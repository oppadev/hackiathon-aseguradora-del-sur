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40080"/>
            <a:ext cx="1371600" cy="1371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640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🛡️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Aseguradora del Sur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Asegurador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914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FraudIA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3200400" y="267004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Posibles Fraudes en Siniestros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00400" y="3154680"/>
            <a:ext cx="5303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2918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al servicio del analista humano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4297680"/>
            <a:ext cx="1261872" cy="310896"/>
          </a:xfrm>
          <a:prstGeom prst="rect">
            <a:avLst>
              <a:gd name="adj" fmla="val 17647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4297680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90288" y="4297680"/>
            <a:ext cx="1261872" cy="310896"/>
          </a:xfrm>
          <a:prstGeom prst="rect">
            <a:avLst>
              <a:gd name="adj" fmla="val 17647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4297680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0176" y="4297680"/>
            <a:ext cx="1261872" cy="310896"/>
          </a:xfrm>
          <a:prstGeom prst="rect">
            <a:avLst>
              <a:gd name="adj" fmla="val 17647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0176" y="4297680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70064" y="4297680"/>
            <a:ext cx="1261872" cy="310896"/>
          </a:xfrm>
          <a:prstGeom prst="rect">
            <a:avLst>
              <a:gd name="adj" fmla="val 17647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0064" y="4297680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analista enfrenta cientos de siniestros sin priorización inteligente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9050">
            <a:solidFill>
              <a:srgbClr val="E8F0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Dependiente de la experiencia individual del analista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0" y="1188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dispersas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cruce automatizado de pólizas, proveedores y documentos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🕸️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88720" y="3017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ocultos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asegurados y proveedores difíciles de detectar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86400" y="3017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alterados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y partes falsificados difíciles de detectar a escala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20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1% de siniestros son ALTO riesgo — pero detectarlos a tiempo puede marcar la diferencia operativa y financiera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FraudIA Claims — La Solución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inteligente de priorización antifraude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9050">
            <a:solidFill>
              <a:srgbClr val="E8F0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1965960" cy="2651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196596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🔴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antifraude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ponderadas con explicación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960120"/>
            <a:ext cx="1965960" cy="2651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960120"/>
            <a:ext cx="196596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1704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60320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62432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960120"/>
            <a:ext cx="1965960" cy="2651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960120"/>
            <a:ext cx="196596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1704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1772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09160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similitud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62432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narrativas de reclamos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960120"/>
            <a:ext cx="1965960" cy="2651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960120"/>
            <a:ext cx="196596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1704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76656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58000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Claude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262432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en lenguaje natural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749040"/>
            <a:ext cx="8503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PRINCIPIO CLAVE: NUNCA acusa fraude — genera alertas para revisión humana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" y="44074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híbrido = 40% Reglas + 25% Documental + 20% Modelo IA + 15% NLP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híbrido: Reglas + ML + NLP + Agente 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9050">
            <a:solidFill>
              <a:srgbClr val="E8F0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600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siniestros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PDFs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600200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14813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60020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00584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1600200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14813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005840"/>
            <a:ext cx="160020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100584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+ 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NLP + 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1600200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3832" y="14813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160020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100584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0" y="1600200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51192" y="14813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1005840"/>
            <a:ext cx="160020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100584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Agente 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13258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8803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32369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base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37360" y="2834640"/>
            <a:ext cx="13258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83080" y="28803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83080" y="32369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2834640"/>
            <a:ext cx="13258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28803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46120" y="32369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RF + IsoF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13258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8803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09160" y="32369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2834640"/>
            <a:ext cx="13258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8803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32369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relaciones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2834640"/>
            <a:ext cx="13258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28803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35240" y="32369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794760"/>
            <a:ext cx="8595360" cy="502920"/>
          </a:xfrm>
          <a:prstGeom prst="rect">
            <a:avLst/>
          </a:prstGeom>
          <a:solidFill>
            <a:srgbClr val="E8F0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794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futura escalable:  Oracle / PostgreSQL  →  FastAPI REST  →  Kubernetes  →  MLflow + Airflow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Riesgo 0-100 — Semáforo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siniestro recibe un puntaje con explicación textual y código de regla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9050">
            <a:solidFill>
              <a:srgbClr val="E8F0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64592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34440"/>
            <a:ext cx="100584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1097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/ BAJO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flujo normal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1097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casos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350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1280160"/>
            <a:ext cx="1031809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40280"/>
            <a:ext cx="859536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40280"/>
            <a:ext cx="16459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468880"/>
            <a:ext cx="100584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6888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– 75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3317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/ MEDIO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27432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a Unidad Antifraude — revisión doc.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331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casos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3504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06640" y="2514600"/>
            <a:ext cx="235549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474720"/>
            <a:ext cx="859536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74720"/>
            <a:ext cx="16459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03320"/>
            <a:ext cx="100584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0332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– 100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91640" y="3566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/ ALTO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91640" y="3977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especializada de campo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3566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casos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35040" y="3977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06640" y="3749040"/>
            <a:ext cx="10972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DEL SCORE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846320"/>
            <a:ext cx="10972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 Reglas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23160" y="4846320"/>
            <a:ext cx="10972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87752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Documental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4846320"/>
            <a:ext cx="10972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Modelo IA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20840" y="4846320"/>
            <a:ext cx="10972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85432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 NLP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ML — RandomForest + IsolationForest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 y evaluado con datos sintéticos del reto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9050">
            <a:solidFill>
              <a:srgbClr val="E8F0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196596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965960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196596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960120"/>
            <a:ext cx="1965960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1155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50592" y="1874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960120"/>
            <a:ext cx="196596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960120"/>
            <a:ext cx="196596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1155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626864" y="1874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03136" y="960120"/>
            <a:ext cx="196596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960120"/>
            <a:ext cx="1965960" cy="1463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11155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0.951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803136" y="1874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 mean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Entrenado: 400 siniestros   |   Evaluado: 100 siniestros   |   28 features   |   Validación cruzada 5-fold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017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(SHAP)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proveedor_lista_restrictiva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3419856"/>
            <a:ext cx="1497787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95467" y="3383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3694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similitud_narrativa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3730752"/>
            <a:ext cx="1399032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96712" y="36941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005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narrativa_clonada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06240" y="4041648"/>
            <a:ext cx="106984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528" y="4005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ratio_monto_suma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06240" y="4352544"/>
            <a:ext cx="98755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4315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626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dias_desde_inicio_poliza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0" y="4663440"/>
            <a:ext cx="888797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86477" y="46268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— Consultas en Lenguaje Natural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API (Anthropic) — modo fallback programático disponible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9050">
            <a:solidFill>
              <a:srgbClr val="E8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RESPONDE: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572000" cy="347472"/>
          </a:xfrm>
          <a:prstGeom prst="rect">
            <a:avLst/>
          </a:prstGeom>
          <a:solidFill>
            <a:srgbClr val="E8F0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¿Cuáles son los 10 siniestros con mayor riesgo?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4572000" cy="347472"/>
          </a:xfrm>
          <a:prstGeom prst="rect">
            <a:avLst/>
          </a:prstGeom>
          <a:solidFill>
            <a:srgbClr val="E8F0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1907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¿Por qué este siniestro fue marcado ALTO?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57984"/>
            <a:ext cx="4572000" cy="347472"/>
          </a:xfrm>
          <a:prstGeom prst="rect">
            <a:avLst/>
          </a:prstGeom>
          <a:solidFill>
            <a:srgbClr val="E8F0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5798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¿Qué proveedores concentran más alertas?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96896"/>
            <a:ext cx="4572000" cy="347472"/>
          </a:xfrm>
          <a:prstGeom prst="rect">
            <a:avLst/>
          </a:prstGeom>
          <a:solidFill>
            <a:srgbClr val="E8F0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9689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¿Qué patrones repiten los reclamos sospechosos?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35808"/>
            <a:ext cx="4572000" cy="347472"/>
          </a:xfrm>
          <a:prstGeom prst="rect">
            <a:avLst/>
          </a:prstGeom>
          <a:solidFill>
            <a:srgbClr val="E8F0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358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Genera un resumen ejecutivo de casos críticos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74720"/>
            <a:ext cx="4572000" cy="347472"/>
          </a:xfrm>
          <a:prstGeom prst="rect">
            <a:avLst/>
          </a:prstGeom>
          <a:solidFill>
            <a:srgbClr val="E8F0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747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Recomienda qué casos revisar primero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960120"/>
            <a:ext cx="3794760" cy="3931920"/>
          </a:xfrm>
          <a:prstGeom prst="rect">
            <a:avLst/>
          </a:prstGeom>
          <a:solidFill>
            <a:srgbClr val="1328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10515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RIESGO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ANTIFRAUDE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1783080"/>
            <a:ext cx="352044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1874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SIN-0005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350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ALTO  (92/100)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825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825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R002, R006, R012, R019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33009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3009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especializada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3822192"/>
            <a:ext cx="352044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886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con Claude API (Anthropic)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Negocio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9050">
            <a:solidFill>
              <a:srgbClr val="E8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2845"/>
          </a:solidFill>
          <a:ln w="12700">
            <a:solidFill>
              <a:srgbClr val="1328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0116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Negocio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9050">
            <a:solidFill>
              <a:srgbClr val="2D4A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500 casos 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640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457200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prioritarios en segundos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1975104"/>
            <a:ext cx="7863840" cy="329184"/>
          </a:xfrm>
          <a:prstGeom prst="rect">
            <a:avLst/>
          </a:prstGeom>
          <a:solidFill>
            <a:srgbClr val="1A304F"/>
          </a:solidFill>
          <a:ln w="12700">
            <a:solidFill>
              <a:srgbClr val="2D4A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975104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manual: de días → minutos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48716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" y="2542032"/>
            <a:ext cx="7863840" cy="329184"/>
          </a:xfrm>
          <a:prstGeom prst="rect">
            <a:avLst/>
          </a:prstGeom>
          <a:solidFill>
            <a:srgbClr val="1A304F"/>
          </a:solidFill>
          <a:ln w="12700">
            <a:solidFill>
              <a:srgbClr val="2D4A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54203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casos ALTO + 92 MEDIO identificados automáticamente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05409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4400" y="3108960"/>
            <a:ext cx="7863840" cy="329184"/>
          </a:xfrm>
          <a:prstGeom prst="rect">
            <a:avLst/>
          </a:prstGeom>
          <a:solidFill>
            <a:srgbClr val="1A304F"/>
          </a:solidFill>
          <a:ln w="12700">
            <a:solidFill>
              <a:srgbClr val="2D4A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10896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cada alerta tiene código de regla y justificación textual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62102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" y="3675888"/>
            <a:ext cx="7863840" cy="329184"/>
          </a:xfrm>
          <a:prstGeom prst="rect">
            <a:avLst/>
          </a:prstGeom>
          <a:solidFill>
            <a:srgbClr val="1A304F"/>
          </a:solidFill>
          <a:ln w="12700">
            <a:solidFill>
              <a:srgbClr val="2D4A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675888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Oracle/PostgreSQL + Airflow + API REST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18795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14400" y="4242816"/>
            <a:ext cx="7863840" cy="329184"/>
          </a:xfrm>
          <a:prstGeom prst="rect">
            <a:avLst/>
          </a:prstGeom>
          <a:solidFill>
            <a:srgbClr val="1A304F"/>
          </a:solidFill>
          <a:ln w="12700">
            <a:solidFill>
              <a:srgbClr val="2D4A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242816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Ético: revisión humana obligatoria antes de cualquier decisión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y Próximos Pasos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conocidas y hoja de ruta de escalabilidad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9050">
            <a:solidFill>
              <a:srgbClr val="E8F0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LIMITACIONES CONOCIDAS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023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630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sintéticos — requiere validación con datos reales de producción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39112"/>
            <a:ext cx="4023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848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entrenado con etiqueta simulada (no supervisión real de fraude)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60904"/>
            <a:ext cx="4023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066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ingesta dinámica de documentos en tiempo real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82696"/>
            <a:ext cx="4023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284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similitud NLP puede generar falsos positivos en reclamos comunes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425196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9601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PRÓXIMOS PASOS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417320"/>
            <a:ext cx="42519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417320"/>
            <a:ext cx="411480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41732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14630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al sistema core de siniestros vía API REST (Oracle / SAP)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039112"/>
            <a:ext cx="42519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039112"/>
            <a:ext cx="411480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039112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20848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en tiempo real para documentos entrantes (Textract / Tesseract)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660904"/>
            <a:ext cx="42519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660904"/>
            <a:ext cx="411480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660904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270662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Reentrenamiento continuo con feedback del analista (MLflow)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282696"/>
            <a:ext cx="42519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3282696"/>
            <a:ext cx="411480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282696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74920" y="33284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Oracle Cloud / AWS con monitoreo Grafana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🛡️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5303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56946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69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5146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— Dashboard Streamlit 7 páginas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5351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8986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modular — GitHub con estructura estándar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328269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 — 500 siniestros, 174 asegurados, 33 proveedores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2160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21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366674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completa — arquitectura, modelo datos, reglas, 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10565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05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40507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ML entrenado — artefactos en /models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6263640" cy="4343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" y="4709160"/>
            <a:ext cx="60807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"FraudIA Claims — Inteligencia Artificial que apoya al analista, sin reemplazarlo."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FraudIA Claims — Pitch hackIAthon 2026</dc:title>
  <dc:subject>PptxGenJS Presentation</dc:subject>
  <dc:creator>FraudIA Claims Team</dc:creator>
  <cp:lastModifiedBy>FraudIA Claims Team</cp:lastModifiedBy>
  <cp:revision>1</cp:revision>
  <dcterms:created xsi:type="dcterms:W3CDTF">2026-05-29T13:46:16Z</dcterms:created>
  <dcterms:modified xsi:type="dcterms:W3CDTF">2026-05-29T13:46:16Z</dcterms:modified>
</cp:coreProperties>
</file>