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494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666846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8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926080" cy="514350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" y="640080"/>
            <a:ext cx="1371600" cy="137160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64008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00000"/>
                </a:solidFill>
              </a:rPr>
              <a:t>🛡️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91440" y="22860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hackIAthon 2026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" y="26060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 Aseguradora del Sur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" y="3017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Asegurador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0" y="914400"/>
            <a:ext cx="5486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FraudIA</a:t>
            </a:r>
            <a:endParaRPr lang="en-US" sz="6200" dirty="0"/>
          </a:p>
        </p:txBody>
      </p:sp>
      <p:sp>
        <p:nvSpPr>
          <p:cNvPr id="9" name="Text 7"/>
          <p:cNvSpPr/>
          <p:nvPr/>
        </p:nvSpPr>
        <p:spPr>
          <a:xfrm>
            <a:off x="3200400" y="1691640"/>
            <a:ext cx="5486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</a:t>
            </a:r>
            <a:endParaRPr lang="en-US" sz="6200" dirty="0"/>
          </a:p>
        </p:txBody>
      </p:sp>
      <p:sp>
        <p:nvSpPr>
          <p:cNvPr id="10" name="Text 8"/>
          <p:cNvSpPr/>
          <p:nvPr/>
        </p:nvSpPr>
        <p:spPr>
          <a:xfrm>
            <a:off x="3200400" y="2670048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E8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 de Posibles Fraudes en Siniestros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200400" y="3154680"/>
            <a:ext cx="530352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0" y="3291839"/>
            <a:ext cx="5577840" cy="8556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</a:t>
            </a: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Alfa Buena </a:t>
            </a:r>
            <a:r>
              <a:rPr lang="en-US" sz="1300" i="1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Maravilla</a:t>
            </a: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Onda </a:t>
            </a:r>
            <a:r>
              <a:rPr lang="en-US" sz="1300" i="1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Dinamita</a:t>
            </a: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Escuadrón</a:t>
            </a: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Lobo</a:t>
            </a:r>
          </a:p>
          <a:p>
            <a:pPr marL="0" indent="0">
              <a:buNone/>
            </a:pPr>
            <a:endParaRPr lang="en-US" sz="1300" i="1" dirty="0">
              <a:solidFill>
                <a:srgbClr val="94A3B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Cristian Acalo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Leonardo Obando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Ariel Guevara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200400" y="4297680"/>
            <a:ext cx="1261872" cy="310896"/>
          </a:xfrm>
          <a:prstGeom prst="rect">
            <a:avLst/>
          </a:prstGeom>
          <a:solidFill>
            <a:srgbClr val="1E3A5F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0" y="4297680"/>
            <a:ext cx="12618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90288" y="4297680"/>
            <a:ext cx="1261872" cy="310896"/>
          </a:xfrm>
          <a:prstGeom prst="rect">
            <a:avLst/>
          </a:prstGeom>
          <a:solidFill>
            <a:srgbClr val="1E3A5F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90288" y="4297680"/>
            <a:ext cx="12618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980176" y="4297680"/>
            <a:ext cx="1261872" cy="310896"/>
          </a:xfrm>
          <a:prstGeom prst="rect">
            <a:avLst/>
          </a:prstGeom>
          <a:solidFill>
            <a:srgbClr val="1E3A5F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80176" y="4297680"/>
            <a:ext cx="12618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370064" y="4297680"/>
            <a:ext cx="1261872" cy="310896"/>
          </a:xfrm>
          <a:prstGeom prst="rect">
            <a:avLst/>
          </a:prstGeom>
          <a:solidFill>
            <a:srgbClr val="1E3A5F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70064" y="4297680"/>
            <a:ext cx="12618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54864" cy="47548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6459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5486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analista enfrenta cientos de siniestros sin priorización inteligente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859536"/>
            <a:ext cx="8412480" cy="0"/>
          </a:xfrm>
          <a:prstGeom prst="line">
            <a:avLst/>
          </a:prstGeom>
          <a:noFill/>
          <a:ln w="19050">
            <a:solidFill>
              <a:srgbClr val="E8F0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005840"/>
            <a:ext cx="4114800" cy="16002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02920" y="12344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👤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188720" y="118872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manual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88720" y="15544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Dependiente de la experiencia individual del analista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005840"/>
            <a:ext cx="4114800" cy="16002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800600" y="12344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🔀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5486400" y="118872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dispersas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0" y="15544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cruce automatizado de pólizas, proveedores y documentos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5760" y="2834640"/>
            <a:ext cx="4114800" cy="16002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02920" y="3063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🕸️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1188720" y="301752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Patrones ocultos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88720" y="33832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Redes de asegurados y proveedores difíciles de detectar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2834640"/>
            <a:ext cx="4114800" cy="16002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00600" y="3063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📄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5486400" y="301752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 alterados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486400" y="33832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Facturas y partes falsificados difíciles de detectar a escala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65760" y="4572000"/>
            <a:ext cx="8412480" cy="43891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4572000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el 1% de siniestros son ALTO riesgo — pero detectarlos a tiempo puede marcar la diferencia operativa y financiera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54864" cy="47548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6459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FraudIA Claims — La Solución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5486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Bandeja inteligente de priorización antifraude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859536"/>
            <a:ext cx="8412480" cy="0"/>
          </a:xfrm>
          <a:prstGeom prst="line">
            <a:avLst/>
          </a:prstGeom>
          <a:noFill/>
          <a:ln w="19050">
            <a:solidFill>
              <a:srgbClr val="E8F0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960120"/>
            <a:ext cx="1965960" cy="265176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960120"/>
            <a:ext cx="1965960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1170432"/>
            <a:ext cx="1965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🔴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20040" y="178308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11480" y="230428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antifraude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2624328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ponderadas con explicación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468880" y="960120"/>
            <a:ext cx="1965960" cy="265176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468880" y="960120"/>
            <a:ext cx="1965960" cy="20116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68880" y="1170432"/>
            <a:ext cx="1965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🤖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2468880" y="178308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2560320" y="230428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RandomForest +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560320" y="2624328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IsolationForest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17720" y="960120"/>
            <a:ext cx="1965960" cy="265176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17720" y="960120"/>
            <a:ext cx="1965960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17720" y="1170432"/>
            <a:ext cx="1965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📝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4617720" y="178308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4709160" y="230428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similitud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709160" y="2624328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narrativas de reclamos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766560" y="960120"/>
            <a:ext cx="1965960" cy="265176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766560" y="960120"/>
            <a:ext cx="1965960" cy="20116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66560" y="1170432"/>
            <a:ext cx="1965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💬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6766560" y="178308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6858000" y="230428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Claude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858000" y="2624328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en lenguaje natural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20040" y="3749040"/>
            <a:ext cx="8503920" cy="5029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37490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PRINCIPIO CLAVE: NUNCA acusa fraude — genera alertas para revisión humana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20040" y="4407408"/>
            <a:ext cx="8503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híbrido = 40% Reglas + 25% Documental + 20% Modelo IA + 15% NLP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54864" cy="47548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6459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Técnica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5486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Enfoque híbrido: Reglas + ML + NLP + Agente IA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859536"/>
            <a:ext cx="8412480" cy="0"/>
          </a:xfrm>
          <a:prstGeom prst="line">
            <a:avLst/>
          </a:prstGeom>
          <a:noFill/>
          <a:ln w="19050">
            <a:solidFill>
              <a:srgbClr val="E8F0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1005840"/>
            <a:ext cx="1600200" cy="118872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1005840"/>
            <a:ext cx="1600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siniestros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PDFs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874520" y="1600200"/>
            <a:ext cx="292608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039112" y="1481328"/>
            <a:ext cx="201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▶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011680" y="1005840"/>
            <a:ext cx="1600200" cy="11887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011680" y="1005840"/>
            <a:ext cx="1600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11880" y="1600200"/>
            <a:ext cx="292608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76472" y="1481328"/>
            <a:ext cx="201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▶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749040" y="1005840"/>
            <a:ext cx="1600200" cy="1188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749040" y="1005840"/>
            <a:ext cx="1600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+ ML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NLP + Red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349240" y="1600200"/>
            <a:ext cx="292608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513832" y="1481328"/>
            <a:ext cx="201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▶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486400" y="1005840"/>
            <a:ext cx="1600200" cy="11887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0" y="1005840"/>
            <a:ext cx="1600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0-100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086600" y="1600200"/>
            <a:ext cx="292608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51192" y="1481328"/>
            <a:ext cx="201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▶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223760" y="1005840"/>
            <a:ext cx="1600200" cy="11887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223760" y="1005840"/>
            <a:ext cx="1600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Agente IA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65760" y="242316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TECNOLÓGICO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74320" y="2834640"/>
            <a:ext cx="1325880" cy="7772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" y="2880360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3.12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20040" y="323697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base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737360" y="2834640"/>
            <a:ext cx="1325880" cy="7772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783080" y="2880360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783080" y="323697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web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200400" y="2834640"/>
            <a:ext cx="1325880" cy="7772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46120" y="2880360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3246120" y="323697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/ RF + IsoF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2834640"/>
            <a:ext cx="1325880" cy="7772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09160" y="2880360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709160" y="323697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Explicabilidad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126480" y="2834640"/>
            <a:ext cx="1325880" cy="7772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172200" y="2880360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NetworkX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172200" y="323697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relaciones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7589520" y="2834640"/>
            <a:ext cx="1325880" cy="7772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635240" y="2880360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7635240" y="323697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IA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274320" y="3794760"/>
            <a:ext cx="8595360" cy="502920"/>
          </a:xfrm>
          <a:prstGeom prst="rect">
            <a:avLst/>
          </a:prstGeom>
          <a:solidFill>
            <a:srgbClr val="E8F0F8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379476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futura escalable:  Oracle / PostgreSQL  →  FastAPI REST  →  Kubernetes  →  MLflow + Airflow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54864" cy="47548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6459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de Riesgo 0-100 — Semáforo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5486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siniestro recibe un puntaje con explicación textual y código de regla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859536"/>
            <a:ext cx="8412480" cy="0"/>
          </a:xfrm>
          <a:prstGeom prst="line">
            <a:avLst/>
          </a:prstGeom>
          <a:noFill/>
          <a:ln w="19050">
            <a:solidFill>
              <a:srgbClr val="E8F0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1005840"/>
            <a:ext cx="8595360" cy="10972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05840"/>
            <a:ext cx="164592" cy="109728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234440"/>
            <a:ext cx="1005840" cy="43891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234440"/>
            <a:ext cx="10058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– 40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691640" y="109728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VERDE / BAJO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691640" y="150876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Continuar flujo normal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035040" y="109728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casos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035040" y="15087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80.6%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406640" y="1280160"/>
            <a:ext cx="1031809" cy="5029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4320" y="2240280"/>
            <a:ext cx="8595360" cy="10972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74320" y="2240280"/>
            <a:ext cx="164592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2468880"/>
            <a:ext cx="1005840" cy="43891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2468880"/>
            <a:ext cx="10058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– 75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33172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AMARILLO / MEDIO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691640" y="274320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Escalar a Unidad Antifraude — revisión doc.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035040" y="233172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 casos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035040" y="274320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18.4%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06640" y="2514600"/>
            <a:ext cx="235549" cy="5029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4320" y="3474720"/>
            <a:ext cx="8595360" cy="10972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274320" y="3474720"/>
            <a:ext cx="164592" cy="10972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703320"/>
            <a:ext cx="1005840" cy="43891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3703320"/>
            <a:ext cx="10058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 – 100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691640" y="356616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ROJO / ALTO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691640" y="397764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especializada de campo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035040" y="356616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casos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6035040" y="39776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1.0%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7406640" y="3749040"/>
            <a:ext cx="109728" cy="5029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4320" y="466344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DEL SCORE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274320" y="4846320"/>
            <a:ext cx="109728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8912" y="484632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  Reglas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2423160" y="4846320"/>
            <a:ext cx="109728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87752" y="484632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  Documental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572000" y="4846320"/>
            <a:ext cx="109728" cy="20116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36592" y="484632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 Modelo IA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720840" y="4846320"/>
            <a:ext cx="109728" cy="20116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85432" y="484632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  NLP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54864" cy="47548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6459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ML — RandomForest + IsolationForest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5486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Entrenado y evaluado con datos sintéticos del reto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859536"/>
            <a:ext cx="8412480" cy="0"/>
          </a:xfrm>
          <a:prstGeom prst="line">
            <a:avLst/>
          </a:prstGeom>
          <a:noFill/>
          <a:ln w="19050">
            <a:solidFill>
              <a:srgbClr val="E8F0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960120"/>
            <a:ext cx="1965960" cy="141732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960120"/>
            <a:ext cx="1965960" cy="146304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115568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274320" y="187452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Score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450592" y="960120"/>
            <a:ext cx="1965960" cy="141732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450592" y="960120"/>
            <a:ext cx="1965960" cy="146304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450592" y="1115568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2450592" y="187452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626864" y="960120"/>
            <a:ext cx="1965960" cy="141732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26864" y="960120"/>
            <a:ext cx="1965960" cy="14630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26864" y="1115568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4626864" y="187452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03136" y="960120"/>
            <a:ext cx="1965960" cy="141732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803136" y="960120"/>
            <a:ext cx="1965960" cy="14630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03136" y="1115568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0.951</a:t>
            </a:r>
            <a:endParaRPr lang="en-US" sz="3800" dirty="0"/>
          </a:p>
        </p:txBody>
      </p:sp>
      <p:sp>
        <p:nvSpPr>
          <p:cNvPr id="21" name="Text 19"/>
          <p:cNvSpPr/>
          <p:nvPr/>
        </p:nvSpPr>
        <p:spPr>
          <a:xfrm>
            <a:off x="6803136" y="187452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F1 mean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74320" y="2514600"/>
            <a:ext cx="8595360" cy="34747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4320" y="2514600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Entrenado: 400 siniestros   |   Evaluado: 100 siniestros   |   28 features   |   Validación cruzada 5-fold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74320" y="301752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FEATURES (SHAP)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74320" y="338328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proveedor_lista_restrictiva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206240" y="3419856"/>
            <a:ext cx="1497787" cy="182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795467" y="338328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9.1%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74320" y="369417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similitud_narrativa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206240" y="3730752"/>
            <a:ext cx="1399032" cy="182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96712" y="36941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8.5%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274320" y="400507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narrativa_clonada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206240" y="4041648"/>
            <a:ext cx="1069848" cy="1828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367528" y="400507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6.5%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274320" y="431596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ratio_monto_suma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206240" y="4352544"/>
            <a:ext cx="987552" cy="1828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85232" y="431596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6.0%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274320" y="462686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dias_desde_inicio_poliza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206240" y="4663440"/>
            <a:ext cx="888797" cy="1828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186477" y="462686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5.4%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54864" cy="47548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6459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IA — Consultas en Lenguaje Natural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5486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by Claude API (Anthropic) — modo fallback programático disponible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859536"/>
            <a:ext cx="8412480" cy="0"/>
          </a:xfrm>
          <a:prstGeom prst="line">
            <a:avLst/>
          </a:prstGeom>
          <a:noFill/>
          <a:ln w="19050">
            <a:solidFill>
              <a:srgbClr val="E8F0F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9601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AGENTE RESPONDE: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74320" y="1280160"/>
            <a:ext cx="4572000" cy="347472"/>
          </a:xfrm>
          <a:prstGeom prst="rect">
            <a:avLst/>
          </a:prstGeom>
          <a:solidFill>
            <a:srgbClr val="E8F0F8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280160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❓  ¿Cuáles son los 10 siniestros con mayor riesgo?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719072"/>
            <a:ext cx="4572000" cy="347472"/>
          </a:xfrm>
          <a:prstGeom prst="rect">
            <a:avLst/>
          </a:prstGeom>
          <a:solidFill>
            <a:srgbClr val="E8F0F8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719072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❓  ¿Por qué este siniestro fue marcado ALTO?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2157984"/>
            <a:ext cx="4572000" cy="347472"/>
          </a:xfrm>
          <a:prstGeom prst="rect">
            <a:avLst/>
          </a:prstGeom>
          <a:solidFill>
            <a:srgbClr val="E8F0F8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2157984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❓  ¿Qué proveedores concentran más alertas?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2596896"/>
            <a:ext cx="4572000" cy="347472"/>
          </a:xfrm>
          <a:prstGeom prst="rect">
            <a:avLst/>
          </a:prstGeom>
          <a:solidFill>
            <a:srgbClr val="E8F0F8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596896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❓  ¿Qué patrones repiten los reclamos sospechosos?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74320" y="3035808"/>
            <a:ext cx="4572000" cy="347472"/>
          </a:xfrm>
          <a:prstGeom prst="rect">
            <a:avLst/>
          </a:prstGeom>
          <a:solidFill>
            <a:srgbClr val="E8F0F8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3035808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❓  Genera un resumen ejecutivo de casos críticos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74320" y="3474720"/>
            <a:ext cx="4572000" cy="347472"/>
          </a:xfrm>
          <a:prstGeom prst="rect">
            <a:avLst/>
          </a:prstGeom>
          <a:solidFill>
            <a:srgbClr val="E8F0F8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3474720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❓  Recomienda qué casos revisar primero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029200" y="960120"/>
            <a:ext cx="3794760" cy="3931920"/>
          </a:xfrm>
          <a:prstGeom prst="rect">
            <a:avLst/>
          </a:prstGeom>
          <a:solidFill>
            <a:srgbClr val="132845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120640" y="1051560"/>
            <a:ext cx="3611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DE RIESGO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ANTIFRAUDE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120640" y="1783080"/>
            <a:ext cx="3520440" cy="0"/>
          </a:xfrm>
          <a:prstGeom prst="line">
            <a:avLst/>
          </a:prstGeom>
          <a:noFill/>
          <a:ln w="12700">
            <a:solidFill>
              <a:srgbClr val="3B82F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66360" y="187452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Siniestro: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00800" y="187452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SIN-0005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166360" y="235000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Nivel: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400800" y="235000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ALTO  (92/100)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166360" y="282549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Reglas: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400800" y="2825496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R002, R006, R012, R019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166360" y="330098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Acción: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00800" y="330098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especializada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120640" y="3822192"/>
            <a:ext cx="3520440" cy="0"/>
          </a:xfrm>
          <a:prstGeom prst="line">
            <a:avLst/>
          </a:prstGeom>
          <a:noFill/>
          <a:ln w="6350">
            <a:solidFill>
              <a:srgbClr val="94A3B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120640" y="3886200"/>
            <a:ext cx="3611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Generado con Claude API (Anthropic)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28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54864" cy="47548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6459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 de Negocio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59536"/>
            <a:ext cx="8412480" cy="0"/>
          </a:xfrm>
          <a:prstGeom prst="line">
            <a:avLst/>
          </a:prstGeom>
          <a:noFill/>
          <a:ln w="19050">
            <a:solidFill>
              <a:srgbClr val="E8F0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32845"/>
          </a:solidFill>
          <a:ln w="12700">
            <a:solidFill>
              <a:srgbClr val="13284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201168"/>
            <a:ext cx="54864" cy="47548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6459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 de Negocio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365760" y="859536"/>
            <a:ext cx="8412480" cy="0"/>
          </a:xfrm>
          <a:prstGeom prst="line">
            <a:avLst/>
          </a:prstGeom>
          <a:noFill/>
          <a:ln w="19050">
            <a:solidFill>
              <a:srgbClr val="2D4A6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71600" y="914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500 casos a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429000" y="64008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0" dirty="0"/>
          </a:p>
        </p:txBody>
      </p:sp>
      <p:sp>
        <p:nvSpPr>
          <p:cNvPr id="11" name="Text 9"/>
          <p:cNvSpPr/>
          <p:nvPr/>
        </p:nvSpPr>
        <p:spPr>
          <a:xfrm>
            <a:off x="4572000" y="914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prioritarios en segundos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65760" y="1920240"/>
            <a:ext cx="502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⏱️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914400" y="1975104"/>
            <a:ext cx="7863840" cy="329184"/>
          </a:xfrm>
          <a:prstGeom prst="rect">
            <a:avLst/>
          </a:prstGeom>
          <a:solidFill>
            <a:srgbClr val="1A304F"/>
          </a:solidFill>
          <a:ln w="12700">
            <a:solidFill>
              <a:srgbClr val="2D4A6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1975104"/>
            <a:ext cx="7680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manual: de días → minutos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5760" y="2487168"/>
            <a:ext cx="502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🎯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914400" y="2542032"/>
            <a:ext cx="7863840" cy="329184"/>
          </a:xfrm>
          <a:prstGeom prst="rect">
            <a:avLst/>
          </a:prstGeom>
          <a:solidFill>
            <a:srgbClr val="1A304F"/>
          </a:solidFill>
          <a:ln w="12700">
            <a:solidFill>
              <a:srgbClr val="2D4A6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2542032"/>
            <a:ext cx="7680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casos ALTO + 92 MEDIO identificados automáticamente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65760" y="3054096"/>
            <a:ext cx="502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📋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914400" y="3108960"/>
            <a:ext cx="7863840" cy="329184"/>
          </a:xfrm>
          <a:prstGeom prst="rect">
            <a:avLst/>
          </a:prstGeom>
          <a:solidFill>
            <a:srgbClr val="1A304F"/>
          </a:solidFill>
          <a:ln w="12700">
            <a:solidFill>
              <a:srgbClr val="2D4A6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51560" y="3108960"/>
            <a:ext cx="7680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Trazabilidad: cada alerta tiene código de regla y justificación textual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760" y="3621024"/>
            <a:ext cx="502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🚀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914400" y="3675888"/>
            <a:ext cx="7863840" cy="329184"/>
          </a:xfrm>
          <a:prstGeom prst="rect">
            <a:avLst/>
          </a:prstGeom>
          <a:solidFill>
            <a:srgbClr val="1A304F"/>
          </a:solidFill>
          <a:ln w="12700">
            <a:solidFill>
              <a:srgbClr val="2D4A6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51560" y="3675888"/>
            <a:ext cx="7680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Escalable a Oracle/PostgreSQL + Airflow + API REST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65760" y="4187952"/>
            <a:ext cx="502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⚖️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914400" y="4242816"/>
            <a:ext cx="7863840" cy="329184"/>
          </a:xfrm>
          <a:prstGeom prst="rect">
            <a:avLst/>
          </a:prstGeom>
          <a:solidFill>
            <a:srgbClr val="1A304F"/>
          </a:solidFill>
          <a:ln w="12700">
            <a:solidFill>
              <a:srgbClr val="2D4A6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51560" y="4242816"/>
            <a:ext cx="7680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Ético: revisión humana obligatoria antes de cualquier decisión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54864" cy="47548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6459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Transparencia y Próximos Pasos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5486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Limitaciones conocidas y hoja de ruta de escalabilidad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859536"/>
            <a:ext cx="8412480" cy="0"/>
          </a:xfrm>
          <a:prstGeom prst="line">
            <a:avLst/>
          </a:prstGeom>
          <a:noFill/>
          <a:ln w="19050">
            <a:solidFill>
              <a:srgbClr val="E8F0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960120"/>
            <a:ext cx="4023360" cy="3657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96012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LIMITACIONES CONOCIDAS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1417320"/>
            <a:ext cx="402336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463040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sintéticos — requiere validación con datos reales de producción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" y="2039112"/>
            <a:ext cx="402336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2084832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entrenado con etiqueta simulada (no supervisión real de fraude)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2660904"/>
            <a:ext cx="402336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2706624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ingesta dinámica de documentos en tiempo real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3282696"/>
            <a:ext cx="402336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3328416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similitud NLP puede generar falsos positivos en reclamos comunes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0" y="960120"/>
            <a:ext cx="4251960" cy="3657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0" y="96012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 PRÓXIMOS PASOS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0" y="1417320"/>
            <a:ext cx="425196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0" y="1417320"/>
            <a:ext cx="411480" cy="53035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0" y="1417320"/>
            <a:ext cx="411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074920" y="1463040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Conectar al sistema core de siniestros vía API REST (Oracle / SAP)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0" y="2039112"/>
            <a:ext cx="425196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0" y="2039112"/>
            <a:ext cx="411480" cy="53035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0" y="2039112"/>
            <a:ext cx="411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074920" y="2084832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en tiempo real para documentos entrantes (Textract / Tesseract)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0" y="2660904"/>
            <a:ext cx="425196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72000" y="2660904"/>
            <a:ext cx="411480" cy="53035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0" y="2660904"/>
            <a:ext cx="411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074920" y="2706624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Reentrenamiento continuo con feedback del analista (MLflow)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0" y="3282696"/>
            <a:ext cx="425196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0" y="3282696"/>
            <a:ext cx="411480" cy="53035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0" y="3282696"/>
            <a:ext cx="411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074920" y="3328416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Despliegue en Oracle Cloud / AWS con monitoreo Grafana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28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0"/>
            <a:ext cx="2834640" cy="514350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0" y="1097280"/>
            <a:ext cx="22860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0" dirty="0">
                <a:solidFill>
                  <a:srgbClr val="000000"/>
                </a:solidFill>
              </a:rPr>
              <a:t>🛡️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297180" y="1649653"/>
            <a:ext cx="5669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8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¡</a:t>
            </a:r>
            <a:r>
              <a:rPr lang="en-US" sz="8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Gracias!</a:t>
            </a:r>
            <a:endParaRPr lang="en-US" sz="8000" dirty="0"/>
          </a:p>
        </p:txBody>
      </p:sp>
      <p:sp>
        <p:nvSpPr>
          <p:cNvPr id="5" name="Shape 3"/>
          <p:cNvSpPr/>
          <p:nvPr/>
        </p:nvSpPr>
        <p:spPr>
          <a:xfrm>
            <a:off x="608356" y="639769"/>
            <a:ext cx="530352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4709160"/>
            <a:ext cx="6263640" cy="4343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" y="4709160"/>
            <a:ext cx="6080760" cy="4343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"FraudIA Claims — Inteligencia Artificial que apoya al analista, sin reemplazarlo."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</TotalTime>
  <Words>724</Words>
  <Application>Microsoft Office PowerPoint</Application>
  <PresentationFormat>On-screen Show (16:9)</PresentationFormat>
  <Paragraphs>190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FraudIA Claims — Pitch hackIAthon 2026</dc:title>
  <dc:subject>PptxGenJS Presentation</dc:subject>
  <dc:creator>FraudIA Claims Team</dc:creator>
  <cp:lastModifiedBy>Cristian Jose Acalo Cruz</cp:lastModifiedBy>
  <cp:revision>3</cp:revision>
  <dcterms:created xsi:type="dcterms:W3CDTF">2026-05-29T13:46:16Z</dcterms:created>
  <dcterms:modified xsi:type="dcterms:W3CDTF">2026-05-29T18:51:08Z</dcterms:modified>
</cp:coreProperties>
</file>